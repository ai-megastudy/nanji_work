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731520"/>
            <a:ext cx="5394960" cy="5120640"/>
          </a:xfrm>
          <a:prstGeom prst="roundRect">
            <a:avLst/>
          </a:prstGeom>
          <a:solidFill>
            <a:srgbClr val="F0F4F8"/>
          </a:solidFill>
          <a:ln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309360" y="0"/>
            <a:ext cx="5943600" cy="6858000"/>
          </a:xfrm>
          <a:prstGeom prst="rect">
            <a:avLst/>
          </a:prstGeom>
          <a:solidFill>
            <a:srgbClr val="0E2240"/>
          </a:solidFill>
          <a:ln>
            <a:solidFill>
              <a:srgbClr val="0E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051560"/>
            <a:ext cx="4754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E2240"/>
                </a:solidFill>
                <a:latin typeface="Malgun Gothic"/>
              </a:rPr>
              <a:t>난지 한강공원 시간별 주차 예측 보고서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14884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02938"/>
                </a:solidFill>
                <a:latin typeface="Malgun Gothic"/>
              </a:rPr>
              <a:t>시간대별 점유 차량 수를 예측하고</a:t>
            </a:r>
            <a:br/>
            <a:r>
              <a:t>나중에 여유 주차공간 수로 변환할 수 있게 정리한 모델링 보고서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24612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202938"/>
                </a:solidFill>
                <a:latin typeface="Malgun Gothic"/>
              </a:rPr>
              <a:t>운영시간 기준: 06:00~23:00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202938"/>
                </a:solidFill>
                <a:latin typeface="Malgun Gothic"/>
              </a:rPr>
              <a:t>데이터 기간: 2022~2025, 총 34,920행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202938"/>
                </a:solidFill>
                <a:latin typeface="Malgun Gothic"/>
              </a:rPr>
              <a:t>최종 운영 모델: weather_only_extended_final (R² 0.766)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202938"/>
                </a:solidFill>
                <a:latin typeface="Malgun Gothic"/>
              </a:rPr>
              <a:t>출처: nanji_weighted_ridge_modeling_report.md / nanji_outputs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960120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algun Gothic"/>
              </a:rPr>
              <a:t>핵심 요약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783080"/>
            <a:ext cx="4754880" cy="868680"/>
          </a:xfrm>
          <a:prstGeom prst="roundRect">
            <a:avLst/>
          </a:prstGeom>
          <a:solidFill>
            <a:srgbClr val="1B3760"/>
          </a:solidFill>
          <a:ln>
            <a:solidFill>
              <a:srgbClr val="1B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892807"/>
            <a:ext cx="4389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algun Gothic"/>
              </a:rPr>
              <a:t>기본 패턴을 먼저 만들고, 월/시간 가중치와 날씨 변수를 더해 Ridge로 보정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2834639"/>
            <a:ext cx="4754880" cy="868680"/>
          </a:xfrm>
          <a:prstGeom prst="roundRect">
            <a:avLst/>
          </a:prstGeom>
          <a:solidFill>
            <a:srgbClr val="1B3760"/>
          </a:solidFill>
          <a:ln>
            <a:solidFill>
              <a:srgbClr val="1B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2944368"/>
            <a:ext cx="4389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algun Gothic"/>
              </a:rPr>
              <a:t>단순 운영 가능한 13개 feature만 남겨도 Test RMSE 55.07, MAE 27.93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3886200"/>
            <a:ext cx="4754880" cy="868680"/>
          </a:xfrm>
          <a:prstGeom prst="roundRect">
            <a:avLst/>
          </a:prstGeom>
          <a:solidFill>
            <a:srgbClr val="1B3760"/>
          </a:solidFill>
          <a:ln>
            <a:solidFill>
              <a:srgbClr val="1B3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3995928"/>
            <a:ext cx="4389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algun Gothic"/>
              </a:rPr>
              <a:t>고혼잡 구간은 과소예측 경향이 있어 운영상 보수적 해석이 필요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E2240"/>
                </a:solidFill>
                <a:latin typeface="Malgun Gothic"/>
              </a:rPr>
              <a:t>1. 분석 목적과 데이터 범위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6B7C"/>
                </a:solidFill>
                <a:latin typeface="Malgun Gothic"/>
              </a:rPr>
              <a:t>보고서 1~4장 내용을 발표용으로 압축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0972800" cy="36576"/>
          </a:xfrm>
          <a:prstGeom prst="rect">
            <a:avLst/>
          </a:prstGeom>
          <a:solidFill>
            <a:srgbClr val="539DDE"/>
          </a:solidFill>
          <a:ln>
            <a:solidFill>
              <a:srgbClr val="539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657600" cy="4480560"/>
          </a:xfrm>
          <a:prstGeom prst="roundRect">
            <a:avLst/>
          </a:prstGeom>
          <a:solidFill>
            <a:srgbClr val="F0F4F8"/>
          </a:solidFill>
          <a:ln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E2240"/>
                </a:solidFill>
                <a:latin typeface="Malgun Gothic"/>
              </a:rPr>
              <a:t>프로젝트 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202938"/>
                </a:solidFill>
                <a:latin typeface="Malgun Gothic"/>
              </a:rPr>
              <a:t>타깃: 특정 시각 주차장 내 추정 점유 차량 수 `estimated_active_cars`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202938"/>
                </a:solidFill>
                <a:latin typeface="Malgun Gothic"/>
              </a:rPr>
              <a:t>목표: 시간대별 주차 수요를 예측하고 `여유 주차공간 수`로 해석 가능하게 구성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202938"/>
                </a:solidFill>
                <a:latin typeface="Malgun Gothic"/>
              </a:rPr>
              <a:t>현장 실측 시간 로그가 아니라 일별 원본을 시간대별로 확장한 통합 데이터셋 활용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325880"/>
            <a:ext cx="3017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55448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E2240"/>
                </a:solidFill>
                <a:latin typeface="Malgun Gothic"/>
              </a:rPr>
              <a:t>운영 기준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14884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202938"/>
                </a:solidFill>
                <a:latin typeface="Malgun Gothic"/>
              </a:rPr>
              <a:t>운영시간은 `06~23시`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202938"/>
                </a:solidFill>
                <a:latin typeface="Malgun Gothic"/>
              </a:rPr>
              <a:t>`00~05시`는 데이터가 있어도 예측값을 0으로 유지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202938"/>
                </a:solidFill>
                <a:latin typeface="Malgun Gothic"/>
              </a:rPr>
              <a:t>학습 구간 분리: train 2022~2023 / valid 2024 / test 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1325880"/>
            <a:ext cx="37947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155448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E2240"/>
                </a:solidFill>
                <a:latin typeface="Malgun Gothic"/>
              </a:rPr>
              <a:t>데이터 현황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148840"/>
            <a:ext cx="3200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202938"/>
                </a:solidFill>
                <a:latin typeface="Malgun Gothic"/>
              </a:rPr>
              <a:t>총 34,920행, datetime 중복 0, 타깃 결측 0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202938"/>
                </a:solidFill>
                <a:latin typeface="Malgun Gothic"/>
              </a:rPr>
              <a:t>기간: 2022-01-01 00:00 ~ 2025-12-31 23:00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202938"/>
                </a:solidFill>
                <a:latin typeface="Malgun Gothic"/>
              </a:rPr>
              <a:t>날씨 커버리지 100%, 지하철 92.4%, 버스 72.0%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202938"/>
                </a:solidFill>
                <a:latin typeface="Malgun Gothic"/>
              </a:rPr>
              <a:t>자전거 33.2%, 문화행사 18.8%로 일부 변수는 보조 설명용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E2240"/>
                </a:solidFill>
                <a:latin typeface="Malgun Gothic"/>
              </a:rPr>
              <a:t>2. 모델링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6B7C"/>
                </a:solidFill>
                <a:latin typeface="Malgun Gothic"/>
              </a:rPr>
              <a:t>기본 패턴을 만든 뒤 가중치와 Ridge 보정을 얹는 해석형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0972800" cy="36576"/>
          </a:xfrm>
          <a:prstGeom prst="rect">
            <a:avLst/>
          </a:prstGeom>
          <a:solidFill>
            <a:srgbClr val="539DDE"/>
          </a:solidFill>
          <a:ln>
            <a:solidFill>
              <a:srgbClr val="539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1828800" cy="2103120"/>
          </a:xfrm>
          <a:prstGeom prst="roundRect">
            <a:avLst/>
          </a:prstGeom>
          <a:solidFill>
            <a:srgbClr val="F0F4F8"/>
          </a:solidFill>
          <a:ln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048256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932688" y="2029968"/>
            <a:ext cx="384048" cy="384048"/>
          </a:xfrm>
          <a:prstGeom prst="ellipse">
            <a:avLst/>
          </a:prstGeom>
          <a:solidFill>
            <a:srgbClr val="205BA3"/>
          </a:solidFill>
          <a:ln>
            <a:solidFill>
              <a:srgbClr val="205B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202996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E2240"/>
                </a:solidFill>
                <a:latin typeface="Malgun Gothic"/>
              </a:rPr>
              <a:t>기본 패턴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97480"/>
            <a:ext cx="1554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202938"/>
                </a:solidFill>
                <a:latin typeface="Malgun Gothic"/>
              </a:rPr>
              <a:t>day_type x hour 평균으로</a:t>
            </a:r>
            <a:br/>
            <a:r>
              <a:t>base_value 생성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1920240"/>
            <a:ext cx="1828800" cy="2103120"/>
          </a:xfrm>
          <a:prstGeom prst="roundRect">
            <a:avLst/>
          </a:prstGeom>
          <a:solidFill>
            <a:srgbClr val="F0F4F8"/>
          </a:solidFill>
          <a:ln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81528" y="2048256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3081528" y="2029968"/>
            <a:ext cx="384048" cy="384048"/>
          </a:xfrm>
          <a:prstGeom prst="ellipse">
            <a:avLst/>
          </a:prstGeom>
          <a:solidFill>
            <a:srgbClr val="205BA3"/>
          </a:solidFill>
          <a:ln>
            <a:solidFill>
              <a:srgbClr val="205B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02996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E2240"/>
                </a:solidFill>
                <a:latin typeface="Malgun Gothic"/>
              </a:rPr>
              <a:t>월 보정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697480"/>
            <a:ext cx="1554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202938"/>
                </a:solidFill>
                <a:latin typeface="Malgun Gothic"/>
              </a:rPr>
              <a:t>month_weight로</a:t>
            </a:r>
            <a:br/>
            <a:r>
              <a:t>계절 수준 차이 반영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1920240"/>
            <a:ext cx="1828800" cy="2103120"/>
          </a:xfrm>
          <a:prstGeom prst="roundRect">
            <a:avLst/>
          </a:prstGeom>
          <a:solidFill>
            <a:srgbClr val="F0F4F8"/>
          </a:solidFill>
          <a:ln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0368" y="2048256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5230368" y="2029968"/>
            <a:ext cx="384048" cy="384048"/>
          </a:xfrm>
          <a:prstGeom prst="ellipse">
            <a:avLst/>
          </a:prstGeom>
          <a:solidFill>
            <a:srgbClr val="205BA3"/>
          </a:solidFill>
          <a:ln>
            <a:solidFill>
              <a:srgbClr val="205B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202996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E2240"/>
                </a:solidFill>
                <a:latin typeface="Malgun Gothic"/>
              </a:rPr>
              <a:t>시간 보정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2697480"/>
            <a:ext cx="1554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202938"/>
                </a:solidFill>
                <a:latin typeface="Malgun Gothic"/>
              </a:rPr>
              <a:t>hour_weight로</a:t>
            </a:r>
            <a:br/>
            <a:r>
              <a:t>운영시간 내 혼잡 편차 반영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9480" y="1920240"/>
            <a:ext cx="1828800" cy="2103120"/>
          </a:xfrm>
          <a:prstGeom prst="roundRect">
            <a:avLst/>
          </a:prstGeom>
          <a:solidFill>
            <a:srgbClr val="F0F4F8"/>
          </a:solidFill>
          <a:ln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79208" y="2048256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2" name="Oval 21"/>
          <p:cNvSpPr/>
          <p:nvPr/>
        </p:nvSpPr>
        <p:spPr>
          <a:xfrm>
            <a:off x="7379208" y="2029968"/>
            <a:ext cx="384048" cy="384048"/>
          </a:xfrm>
          <a:prstGeom prst="ellipse">
            <a:avLst/>
          </a:prstGeom>
          <a:solidFill>
            <a:srgbClr val="205BA3"/>
          </a:solidFill>
          <a:ln>
            <a:solidFill>
              <a:srgbClr val="205B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202996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E2240"/>
                </a:solidFill>
                <a:latin typeface="Malgun Gothic"/>
              </a:rPr>
              <a:t>Ridge 보정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2697480"/>
            <a:ext cx="1554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202938"/>
                </a:solidFill>
                <a:latin typeface="Malgun Gothic"/>
              </a:rPr>
              <a:t>주기 변수 + 휴일 + 날씨로</a:t>
            </a:r>
            <a:br/>
            <a:r>
              <a:t>잔차를 줄이는 최종 단계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57200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202938"/>
                </a:solidFill>
                <a:latin typeface="Malgun Gothic"/>
              </a:rPr>
              <a:t>핵심은 블랙박스 예측이 아니라, 사람이 이해 가능한 패턴을 먼저 세우고</a:t>
            </a:r>
            <a:br/>
            <a:r>
              <a:t>머신러닝은 설명이 안 되는 차이만 보정하도록 제한한 점입니다.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E2240"/>
                </a:solidFill>
                <a:latin typeface="Malgun Gothic"/>
              </a:rPr>
              <a:t>3. 전처리와 데이터 품질 점검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6B7C"/>
                </a:solidFill>
                <a:latin typeface="Malgun Gothic"/>
              </a:rPr>
              <a:t>분포, 이상값, 다중공선성을 먼저 확인한 뒤 모델링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0972800" cy="36576"/>
          </a:xfrm>
          <a:prstGeom prst="rect">
            <a:avLst/>
          </a:prstGeom>
          <a:solidFill>
            <a:srgbClr val="539DDE"/>
          </a:solidFill>
          <a:ln>
            <a:solidFill>
              <a:srgbClr val="539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840480" cy="4389120"/>
          </a:xfrm>
          <a:prstGeom prst="roundRect">
            <a:avLst/>
          </a:prstGeom>
          <a:solidFill>
            <a:srgbClr val="F0F4F8"/>
          </a:solidFill>
          <a:ln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3474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E2240"/>
                </a:solidFill>
                <a:latin typeface="Malgun Gothic"/>
              </a:rPr>
              <a:t>타깃 이상값 점검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202938"/>
                </a:solidFill>
                <a:latin typeface="Malgun Gothic"/>
              </a:rPr>
              <a:t>IQR 상한 후보 1,733건 모두 특이치로 유지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202938"/>
                </a:solidFill>
                <a:latin typeface="Malgun Gothic"/>
              </a:rPr>
              <a:t>실제 제거된 target outlier는 0건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202938"/>
                </a:solidFill>
                <a:latin typeface="Malgun Gothic"/>
              </a:rPr>
              <a:t>즉 큰 값은 드물지만 끊어진 오류라기보다 실제 혼잡 이벤트로 해석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325880"/>
            <a:ext cx="30632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554480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E2240"/>
                </a:solidFill>
                <a:latin typeface="Malgun Gothic"/>
              </a:rPr>
              <a:t>입력 변수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10312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202938"/>
                </a:solidFill>
                <a:latin typeface="Malgun Gothic"/>
              </a:rPr>
              <a:t>상관계수 0.9 이상 기준으로 15개 중복 변수 정리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202938"/>
                </a:solidFill>
                <a:latin typeface="Malgun Gothic"/>
              </a:rPr>
              <a:t>실제 행 제거는 자전거 관련 극단치 12건만 반영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202938"/>
                </a:solidFill>
                <a:latin typeface="Malgun Gothic"/>
              </a:rPr>
              <a:t>로그 변환은 검토만 하고 최종 구조는 원해석 가능성을 유지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325880"/>
            <a:ext cx="3749039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55448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E2240"/>
                </a:solidFill>
                <a:latin typeface="Malgun Gothic"/>
              </a:rPr>
              <a:t>해석 포인트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103120"/>
            <a:ext cx="3154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202938"/>
                </a:solidFill>
                <a:latin typeface="Malgun Gothic"/>
              </a:rPr>
              <a:t>분포는 작은 값이 많고 큰 값은 드문 long-tail 구조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202938"/>
                </a:solidFill>
                <a:latin typeface="Malgun Gothic"/>
              </a:rPr>
              <a:t>선형 모델은 일반 구간에 안정적이지만, 피크 구간은 놓칠 수 있음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202938"/>
                </a:solidFill>
                <a:latin typeface="Malgun Gothic"/>
              </a:rPr>
              <a:t>따라서 전체 정확도와 운영 단순성 사이의 균형이 중요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E2240"/>
                </a:solidFill>
                <a:latin typeface="Malgun Gothic"/>
              </a:rPr>
              <a:t>4. 패턴 가중치 시각화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6B7C"/>
                </a:solidFill>
                <a:latin typeface="Malgun Gothic"/>
              </a:rPr>
              <a:t>월별 수준 차이와 운영시간 내 혼잡 편차를 분리해 해석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0972800" cy="36576"/>
          </a:xfrm>
          <a:prstGeom prst="rect">
            <a:avLst/>
          </a:prstGeom>
          <a:solidFill>
            <a:srgbClr val="539DDE"/>
          </a:solidFill>
          <a:ln>
            <a:solidFill>
              <a:srgbClr val="539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anji_month_we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212080" cy="2345436"/>
          </a:xfrm>
          <a:prstGeom prst="rect">
            <a:avLst/>
          </a:prstGeom>
        </p:spPr>
      </p:pic>
      <p:pic>
        <p:nvPicPr>
          <p:cNvPr id="6" name="Picture 5" descr="nanji_hour_weigh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212080" cy="23454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5440680"/>
            <a:ext cx="4937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202938"/>
                </a:solidFill>
                <a:latin typeface="Malgun Gothic"/>
              </a:rPr>
              <a:t>월 가중치: 4~6월, 9~10월이 높고 1~2월·12월이 낮음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5440680"/>
            <a:ext cx="4937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202938"/>
                </a:solidFill>
                <a:latin typeface="Malgun Gothic"/>
              </a:rPr>
              <a:t>시간 가중치: 13~16시에 혼잡이 집중되고 06~10시는 상대적으로 낮음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E2240"/>
                </a:solidFill>
                <a:latin typeface="Malgun Gothic"/>
              </a:rPr>
              <a:t>5. 모델 비교와 최종 운영안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6B7C"/>
                </a:solidFill>
                <a:latin typeface="Malgun Gothic"/>
              </a:rPr>
              <a:t>정확도뿐 아니라 미래 시점에서 확보 가능한 입력인지 함께 고려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0972800" cy="36576"/>
          </a:xfrm>
          <a:prstGeom prst="rect">
            <a:avLst/>
          </a:prstGeom>
          <a:solidFill>
            <a:srgbClr val="539DDE"/>
          </a:solidFill>
          <a:ln>
            <a:solidFill>
              <a:srgbClr val="539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anji_operational_model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5486400" cy="2972872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554480"/>
          <a:ext cx="5074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984"/>
                <a:gridCol w="1014984"/>
                <a:gridCol w="1014984"/>
                <a:gridCol w="1014984"/>
                <a:gridCol w="1014984"/>
              </a:tblGrid>
              <a:tr h="4572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</a:rPr>
                        <a:t>모델</a:t>
                      </a:r>
                    </a:p>
                  </a:txBody>
                  <a:tcPr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</a:rPr>
                        <a:t>alpha</a:t>
                      </a:r>
                    </a:p>
                  </a:txBody>
                  <a:tcPr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</a:rPr>
                        <a:t>RMSE</a:t>
                      </a:r>
                    </a:p>
                  </a:txBody>
                  <a:tcPr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</a:rPr>
                        <a:t>MAE</a:t>
                      </a:r>
                    </a:p>
                  </a:txBody>
                  <a:tcPr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</a:rPr>
                        <a:t>R²</a:t>
                      </a:r>
                    </a:p>
                  </a:txBody>
                  <a:tcPr>
                    <a:solidFill>
                      <a:srgbClr val="0E22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938"/>
                          </a:solidFill>
                          <a:latin typeface="Malgun Gothic"/>
                        </a:rPr>
                        <a:t>weather_only_extended_final</a:t>
                      </a:r>
                    </a:p>
                  </a:txBody>
                  <a:tcPr>
                    <a:solidFill>
                      <a:srgbClr val="DC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938"/>
                          </a:solidFill>
                          <a:latin typeface="Malgun Gothic"/>
                        </a:rPr>
                        <a:t>100</a:t>
                      </a:r>
                    </a:p>
                  </a:txBody>
                  <a:tcPr>
                    <a:solidFill>
                      <a:srgbClr val="DC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938"/>
                          </a:solidFill>
                          <a:latin typeface="Malgun Gothic"/>
                        </a:rPr>
                        <a:t>55.07</a:t>
                      </a:r>
                    </a:p>
                  </a:txBody>
                  <a:tcPr>
                    <a:solidFill>
                      <a:srgbClr val="DC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938"/>
                          </a:solidFill>
                          <a:latin typeface="Malgun Gothic"/>
                        </a:rPr>
                        <a:t>27.93</a:t>
                      </a:r>
                    </a:p>
                  </a:txBody>
                  <a:tcPr>
                    <a:solidFill>
                      <a:srgbClr val="DC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938"/>
                          </a:solidFill>
                          <a:latin typeface="Malgun Gothic"/>
                        </a:rPr>
                        <a:t>0.766</a:t>
                      </a:r>
                    </a:p>
                  </a:txBody>
                  <a:tcPr>
                    <a:solidFill>
                      <a:srgbClr val="DCF0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938"/>
                          </a:solidFill>
                          <a:latin typeface="Malgun Gothic"/>
                        </a:rPr>
                        <a:t>weather_only_simple_forecast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938"/>
                          </a:solidFill>
                          <a:latin typeface="Malgun Gothic"/>
                        </a:rPr>
                        <a:t>100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938"/>
                          </a:solidFill>
                          <a:latin typeface="Malgun Gothic"/>
                        </a:rPr>
                        <a:t>55.19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938"/>
                          </a:solidFill>
                          <a:latin typeface="Malgun Gothic"/>
                        </a:rPr>
                        <a:t>27.97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938"/>
                          </a:solidFill>
                          <a:latin typeface="Malgun Gothic"/>
                        </a:rPr>
                        <a:t>0.765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938"/>
                          </a:solidFill>
                          <a:latin typeface="Malgun Gothic"/>
                        </a:rPr>
                        <a:t>weather_only_extended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938"/>
                          </a:solidFill>
                          <a:latin typeface="Malgun Gothic"/>
                        </a:rPr>
                        <a:t>100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938"/>
                          </a:solidFill>
                          <a:latin typeface="Malgun Gothic"/>
                        </a:rPr>
                        <a:t>55.20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938"/>
                          </a:solidFill>
                          <a:latin typeface="Malgun Gothic"/>
                        </a:rPr>
                        <a:t>28.02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938"/>
                          </a:solidFill>
                          <a:latin typeface="Malgun Gothic"/>
                        </a:rPr>
                        <a:t>0.764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938"/>
                          </a:solidFill>
                          <a:latin typeface="Malgun Gothic"/>
                        </a:rPr>
                        <a:t>weighted_extended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938"/>
                          </a:solidFill>
                          <a:latin typeface="Malgun Gothic"/>
                        </a:rPr>
                        <a:t>1000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938"/>
                          </a:solidFill>
                          <a:latin typeface="Malgun Gothic"/>
                        </a:rPr>
                        <a:t>56.56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938"/>
                          </a:solidFill>
                          <a:latin typeface="Malgun Gothic"/>
                        </a:rPr>
                        <a:t>28.05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938"/>
                          </a:solidFill>
                          <a:latin typeface="Malgun Gothic"/>
                        </a:rPr>
                        <a:t>0.753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938"/>
                          </a:solidFill>
                          <a:latin typeface="Malgun Gothic"/>
                        </a:rPr>
                        <a:t>weighted_core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938"/>
                          </a:solidFill>
                          <a:latin typeface="Malgun Gothic"/>
                        </a:rPr>
                        <a:t>1000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938"/>
                          </a:solidFill>
                          <a:latin typeface="Malgun Gothic"/>
                        </a:rPr>
                        <a:t>59.61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938"/>
                          </a:solidFill>
                          <a:latin typeface="Malgun Gothic"/>
                        </a:rPr>
                        <a:t>30.05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02938"/>
                          </a:solidFill>
                          <a:latin typeface="Malgun Gothic"/>
                        </a:rPr>
                        <a:t>0.725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46520" y="45720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202938"/>
                </a:solidFill>
                <a:latin typeface="Malgun Gothic"/>
              </a:rPr>
              <a:t>최종 운영안: `weather_only_extended_final` (Test R² 0.766)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202938"/>
                </a:solidFill>
                <a:latin typeface="Malgun Gothic"/>
              </a:rPr>
              <a:t>비교 기준 `weighted_extended` 대비 RMSE를 1.48 개선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202938"/>
                </a:solidFill>
                <a:latin typeface="Malgun Gothic"/>
              </a:rPr>
              <a:t>교통·행사 변수 없이도 날씨 예보와 패턴 정보만으로 운영 가능한 구조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E2240"/>
                </a:solidFill>
                <a:latin typeface="Malgun Gothic"/>
              </a:rPr>
              <a:t>6. 최종 운영 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6B7C"/>
                </a:solidFill>
                <a:latin typeface="Malgun Gothic"/>
              </a:rPr>
              <a:t>총 13개 변수로 축소해 성능과 운영 가능성을 함께 확보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0972800" cy="36576"/>
          </a:xfrm>
          <a:prstGeom prst="rect">
            <a:avLst/>
          </a:prstGeom>
          <a:solidFill>
            <a:srgbClr val="539DDE"/>
          </a:solidFill>
          <a:ln>
            <a:solidFill>
              <a:srgbClr val="539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anji_operational_feature_gro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4389120" cy="257773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40680" y="1417320"/>
            <a:ext cx="5669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0" y="164592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E2240"/>
                </a:solidFill>
                <a:latin typeface="Malgun Gothic"/>
              </a:rPr>
              <a:t>feature 구성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2148840"/>
            <a:ext cx="4937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202938"/>
                </a:solidFill>
                <a:latin typeface="Malgun Gothic"/>
              </a:rPr>
              <a:t>패턴: pattern_prior, month_weight, hour_weight, day_type_offday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202938"/>
                </a:solidFill>
                <a:latin typeface="Malgun Gothic"/>
              </a:rPr>
              <a:t>주기: hour_sin, hour_cos, month_sin, month_cos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202938"/>
                </a:solidFill>
                <a:latin typeface="Malgun Gothic"/>
              </a:rPr>
              <a:t>달력: is_holiday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202938"/>
                </a:solidFill>
                <a:latin typeface="Malgun Gothic"/>
              </a:rPr>
              <a:t>날씨: temperature_2m, relative_humidity_2m, weather_code, wind_gusts_10m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4846320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02938"/>
                </a:solidFill>
                <a:latin typeface="Malgun Gothic"/>
              </a:rPr>
              <a:t>미래 예측 시점에 확보 가능한 입력만 남겨 실제 운영 흐름과 연결하기 쉽게 만든 구성이 핵심입니다.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E2240"/>
                </a:solidFill>
                <a:latin typeface="Malgun Gothic"/>
              </a:rPr>
              <a:t>7. 2025년 테스트셋 결과 해석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6B7C"/>
                </a:solidFill>
                <a:latin typeface="Malgun Gothic"/>
              </a:rPr>
              <a:t>월별 흐름은 따라가지만, 매우 높은 피크는 보수적으로 보는 것이 안전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0972800" cy="36576"/>
          </a:xfrm>
          <a:prstGeom prst="rect">
            <a:avLst/>
          </a:prstGeom>
          <a:solidFill>
            <a:srgbClr val="539DDE"/>
          </a:solidFill>
          <a:ln>
            <a:solidFill>
              <a:srgbClr val="539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anji_2025_monthly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6400800" cy="2880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0" y="1417320"/>
            <a:ext cx="4206240" cy="4434840"/>
          </a:xfrm>
          <a:prstGeom prst="roundRect">
            <a:avLst/>
          </a:prstGeom>
          <a:solidFill>
            <a:srgbClr val="F0F4F8"/>
          </a:solidFill>
          <a:ln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0" y="164592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E2240"/>
                </a:solidFill>
                <a:latin typeface="Malgun Gothic"/>
              </a:rPr>
              <a:t>운영 해석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2148840"/>
            <a:ext cx="3611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202938"/>
                </a:solidFill>
                <a:latin typeface="Malgun Gothic"/>
              </a:rPr>
              <a:t>100 미만과 100~300 구간은 비교적 안정적으로 설명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202938"/>
                </a:solidFill>
                <a:latin typeface="Malgun Gothic"/>
              </a:rPr>
              <a:t>300~500 구간부터 오차가 커지고, 500 이상은 과소예측 경향이 뚜렷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202938"/>
                </a:solidFill>
                <a:latin typeface="Malgun Gothic"/>
              </a:rPr>
              <a:t>즉 일반 운영 수요 추세 예측에는 유용하지만, 극단적 피크는 별도 관리가 필요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202938"/>
                </a:solidFill>
                <a:latin typeface="Malgun Gothic"/>
              </a:rPr>
              <a:t>보고서 기준 최종 해석: 간단한 Ridge 운영안 + 고혼잡 구간에 대한 보수적 경보 체계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E2240"/>
                </a:solidFill>
                <a:latin typeface="Malgun Gothic"/>
              </a:rPr>
              <a:t>8. 활용 방식과 제안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6B7C"/>
                </a:solidFill>
                <a:latin typeface="Malgun Gothic"/>
              </a:rPr>
              <a:t>예측 점유 차량 수를 여유 주차공간으로 변환해 바로 운영지표로 사용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0972800" cy="36576"/>
          </a:xfrm>
          <a:prstGeom prst="rect">
            <a:avLst/>
          </a:prstGeom>
          <a:solidFill>
            <a:srgbClr val="539DDE"/>
          </a:solidFill>
          <a:ln>
            <a:solidFill>
              <a:srgbClr val="539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972800" cy="1097280"/>
          </a:xfrm>
          <a:prstGeom prst="roundRect">
            <a:avLst/>
          </a:prstGeom>
          <a:solidFill>
            <a:srgbClr val="F0F4F8"/>
          </a:solidFill>
          <a:ln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332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0E2240"/>
                </a:solidFill>
                <a:latin typeface="Malgun Gothic"/>
              </a:rPr>
              <a:t>available_spaces = max(total_capacity - predicted_estimated_active_cars, 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154680"/>
            <a:ext cx="3154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26280" y="3154680"/>
            <a:ext cx="3154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38160" y="3154680"/>
            <a:ext cx="3154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42900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0E2240"/>
                </a:solidFill>
                <a:latin typeface="Malgun Gothic"/>
              </a:rPr>
              <a:t>입력</a:t>
            </a:r>
            <a:br/>
            <a:r>
              <a:t>시간대 패턴 + 휴일 + 날씨 예보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42900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0E2240"/>
                </a:solidFill>
                <a:latin typeface="Malgun Gothic"/>
              </a:rPr>
              <a:t>모델 출력</a:t>
            </a:r>
            <a:br/>
            <a:r>
              <a:t>예상 점유 차량 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401568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0E2240"/>
                </a:solidFill>
                <a:latin typeface="Malgun Gothic"/>
              </a:rPr>
              <a:t>운영 지표</a:t>
            </a:r>
            <a:br/>
            <a:r>
              <a:t>여유 주차공간 수 / 여유율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4864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202938"/>
                </a:solidFill>
                <a:latin typeface="Malgun Gothic"/>
              </a:rPr>
              <a:t>권장 운영 방식: 1시간·2시간·하루 단위 수요 추세 안내에는 적극 활용, 고혼잡 피크는 보수적 해석과 현장 모니터링 병행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