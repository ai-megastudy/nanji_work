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79552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난지 한강공원 시간별 주차 예측 보고서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8138160" cy="411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7680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Malgun Gothic"/>
              </a:rPr>
              <a:t>A4 가로형 보고서 스타일 업데이트 버전</a:t>
            </a:r>
            <a:br/>
            <a:r>
              <a:t>가중치 기반 Ridge 모델링 결과를 운영 관점으로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468880"/>
            <a:ext cx="475488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70048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핵심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63240"/>
            <a:ext cx="4251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최종 운영안은 `weather_only_extended_final`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Test RMSE 55.07, MAE 27.93, R² 0.766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날씨 예보와 패턴 정보만으로 운영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468880"/>
            <a:ext cx="4434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267004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적용한 스타일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063240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짙은 남색 제목 + 파란 구분선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밝은 카드형 레이아웃과 테이블 강조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A4 landscape 비율에 맞춘 보고서형 슬라이드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81228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algun Gothic"/>
              </a:rPr>
              <a:t>출력 위치: yeeun/0411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1. 분석 목적과 데이터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보고서 1~4장 핵심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0632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프로젝트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타깃은 특정 시각 주차장 내 추정 점유 차량 수 `estimated_active_cars`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시간대별 수요를 예측하고 나중에 여유 주차공간 수로 변환 가능하게 구성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일별 원본을 시간대별로 확장한 통합 데이터셋을 사용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143000"/>
            <a:ext cx="27432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운영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73736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운영시간은 `06~23시`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`00~05시`는 예측값을 0으로 유지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train: 2022~2023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valid: 2024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test: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143000"/>
            <a:ext cx="36118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371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데이터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총 34,920행, datetime 중복 0, 타깃 결측 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기간: 2022-01-01 00:00 ~ 2025-12-31 23:00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날씨 feature coverage 100%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지하철 92.4%, 버스 72.0%, 자전거 33.2%, 문화행사 18.8%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2. 모델링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기본 패턴을 먼저 세우고 Ridge는 남는 오차만 보정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148840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2996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Malgun Gothic"/>
              </a:rPr>
              <a:t>기본 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97480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day_type x hour 평균으로</a:t>
            </a:r>
            <a:br/>
            <a:r>
              <a:t>base_value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82880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202996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Malgun Gothic"/>
              </a:rPr>
              <a:t>월 보정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697480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month_weight로</a:t>
            </a:r>
            <a:br/>
            <a:r>
              <a:t>계절 수준 차이 반영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828800"/>
            <a:ext cx="2148840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1" y="202996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Malgun Gothic"/>
              </a:rPr>
              <a:t>시간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1" y="2697480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hour_weight로</a:t>
            </a:r>
            <a:br/>
            <a:r>
              <a:t>운영시간 내 편차 반영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02996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Malgun Gothic"/>
              </a:rPr>
              <a:t>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697480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주기 변수, 휴일,</a:t>
            </a:r>
            <a:br/>
            <a:r>
              <a:t>날씨로 잔차 보정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905256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11827"/>
                </a:solidFill>
                <a:latin typeface="Malgun Gothic"/>
              </a:rPr>
              <a:t>핵심은 블랙박스 예측보다 해석 가능한 구조를 유지하는 것입니다. 사람도 이해할 수 있는 패턴을 먼저 만들고, 머신러닝은 설명이 안 되는 차이만 줄이도록 설계했습니다.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3. 전처리와 품질 점검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분포, 이상값, 다중공선성을 먼저 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06324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타깃 이상값 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468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IQR 상한 후보 1,733건 모두 특이치로 유지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실제 제거된 target outlier는 0건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즉 높은 값은 드물지만 오류보다 실제 혼잡 이벤트로 해석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143000"/>
            <a:ext cx="274320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입력 변수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73736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상관계수 0.9 이상 기준으로 15개 중복 관계 정리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실제 행 제거는 자전거 관련 극단치 12건만 반영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로그 변환은 검토만 하고 최종 해석 가능성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143000"/>
            <a:ext cx="361188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371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737360"/>
            <a:ext cx="2880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분포는 작은 값이 많고 큰 값은 드문 long-tail 구조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선형 모델은 일반 구간에 안정적이지만 피크 구간에는 약함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그래서 전체 정확도와 운영 단순성의 균형이 중요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4. 패턴 가중치 시각화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계절 수준 차이와 시간대 편차를 분리해 해석</a:t>
            </a:r>
          </a:p>
        </p:txBody>
      </p:sp>
      <p:pic>
        <p:nvPicPr>
          <p:cNvPr id="5" name="Picture 4" descr="nanji_month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4526280" cy="2036826"/>
          </a:xfrm>
          <a:prstGeom prst="rect">
            <a:avLst/>
          </a:prstGeom>
        </p:spPr>
      </p:pic>
      <p:pic>
        <p:nvPicPr>
          <p:cNvPr id="6" name="Picture 5" descr="nanji_hour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234440"/>
            <a:ext cx="4526280" cy="20368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7150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월 가중치: 4~6월, 9~10월이 높고 1~2월·12월이 낮음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571500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시간 가중치: 13~16시 중심의 혼잡 집중 패턴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5. 모델 비교와 최종 운영안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정확도뿐 아니라 미래 시점에서 확보 가능한 입력인지 함께 고려</a:t>
            </a:r>
          </a:p>
        </p:txBody>
      </p:sp>
      <p:pic>
        <p:nvPicPr>
          <p:cNvPr id="5" name="Picture 4" descr="nanji_operational_model_compare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4800600" cy="243410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23560" y="1389888"/>
          <a:ext cx="43891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877824"/>
                <a:gridCol w="877824"/>
                <a:gridCol w="877824"/>
                <a:gridCol w="877824"/>
              </a:tblGrid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Malgun Gothic"/>
                        </a:rPr>
                        <a:t>alpha</a:t>
                      </a:r>
                    </a:p>
                  </a:txBody>
                  <a:tcPr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Malgun Gothic"/>
                        </a:rPr>
                        <a:t>RMSE</a:t>
                      </a:r>
                    </a:p>
                  </a:txBody>
                  <a:tcPr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Malgun Gothic"/>
                        </a:rPr>
                        <a:t>MAE</a:t>
                      </a:r>
                    </a:p>
                  </a:txBody>
                  <a:tcPr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Malgun Gothic"/>
                        </a:rPr>
                        <a:t>R²</a:t>
                      </a:r>
                    </a:p>
                  </a:txBody>
                  <a:tcPr>
                    <a:solidFill>
                      <a:srgbClr val="E0EC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  <a:latin typeface="Malgun Gothic"/>
                        </a:rPr>
                        <a:t>weather_only_extended_final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  <a:latin typeface="Malgun Gothic"/>
                        </a:rPr>
                        <a:t>55.07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  <a:latin typeface="Malgun Gothic"/>
                        </a:rPr>
                        <a:t>27.93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  <a:latin typeface="Malgun Gothic"/>
                        </a:rPr>
                        <a:t>0.766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weather_only_simple_forecast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55.19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27.97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0.765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weather_only_extended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55.20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28.02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0.764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weighted_extended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56.56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28.05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0.753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weighted_core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59.61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30.05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23560" y="4251960"/>
            <a:ext cx="438912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4498848"/>
            <a:ext cx="39776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최종 운영안: weather_only_extended_final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weighted_extended 대비 RMSE 1.48 개선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최종 성능: R² 0.766, MAE 27.93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6. 최종 운영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총 13개 변수로 축소해 운영 가능성과 설명력을 함께 확보</a:t>
            </a:r>
          </a:p>
        </p:txBody>
      </p:sp>
      <p:pic>
        <p:nvPicPr>
          <p:cNvPr id="5" name="Picture 4" descr="nanji_operational_feature_groups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297680" cy="27838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57800" y="1371600"/>
            <a:ext cx="4572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8112" y="1627632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feature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8112" y="2011680"/>
            <a:ext cx="3977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패턴: pattern_prior, month_weight, hour_weight, day_type_offday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주기: hour_sin, hour_cos, month_sin, month_cos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달력: is_holiday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날씨: temperature_2m, relative_humidity_2m, weather_code, wind_gusts_10m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미래 예측 시점에 확보 가능한 입력만 남겨 실제 운영 흐름과 연결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7. 테스트 결과 해석과 활용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월별 추세 예측에는 유용하지만 고혼잡 피크는 보수적으로 해석</a:t>
            </a:r>
          </a:p>
        </p:txBody>
      </p:sp>
      <p:pic>
        <p:nvPicPr>
          <p:cNvPr id="5" name="Picture 4" descr="nanji_2025_monthl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1872"/>
            <a:ext cx="4892040" cy="22014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61872"/>
            <a:ext cx="4343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087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테스트셋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874519"/>
            <a:ext cx="37490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100 미만과 100~300 구간은 비교적 안정적으로 설명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300~500부터 오차가 커지고, 500 이상은 과소예측 경향이 뚜렷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657600"/>
            <a:ext cx="4343400" cy="224028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3904487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운영 적용 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429768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Malgun Gothic"/>
              </a:rPr>
              <a:t>available_spaces = max(total_capacity - predicted_estimated_active_cars,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4828032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1시간·2시간·하루 단위 수요 추세 안내에 활용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극단적 피크는 현장 모니터링과 병행 권장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