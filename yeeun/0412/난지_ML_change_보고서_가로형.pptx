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792" y="713232"/>
            <a:ext cx="5120640" cy="5394960"/>
          </a:xfrm>
          <a:prstGeom prst="round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53328" y="0"/>
            <a:ext cx="6144768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078992"/>
            <a:ext cx="448056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0F172A"/>
                </a:solidFill>
                <a:latin typeface="Apple SD Gothic Neo"/>
              </a:rPr>
              <a:t>난지 ML Change</a:t>
            </a:r>
            <a:br/>
            <a:r>
              <a:t>가로형 발표자료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12848"/>
            <a:ext cx="44805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1F2937"/>
                </a:solidFill>
                <a:latin typeface="Apple SD Gothic Neo"/>
              </a:rPr>
              <a:t>기존 점유 차량 수 예측이 아니라</a:t>
            </a:r>
            <a:br/>
            <a:r>
              <a:t>시간대별 변화량 예측 결과를 기준으로 재구성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73552"/>
            <a:ext cx="448056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600">
                <a:solidFill>
                  <a:srgbClr val="1F2937"/>
                </a:solidFill>
                <a:latin typeface="Apple SD Gothic Neo"/>
              </a:rPr>
              <a:t>타깃: estimated_active_cars_change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600">
                <a:solidFill>
                  <a:srgbClr val="1F2937"/>
                </a:solidFill>
                <a:latin typeface="Apple SD Gothic Neo"/>
              </a:rPr>
              <a:t>최고 성능: weighted_extended / R² 0.677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600">
                <a:solidFill>
                  <a:srgbClr val="1F2937"/>
                </a:solidFill>
                <a:latin typeface="Apple SD Gothic Neo"/>
              </a:rPr>
              <a:t>운영형 단순안: weather_only_extended_final / 10개 feature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7960" y="868680"/>
            <a:ext cx="4572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ple SD Gothic Neo"/>
              </a:rPr>
              <a:t>이번 보완 포인트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46520" y="1627632"/>
            <a:ext cx="4709160" cy="987552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20840" y="1874519"/>
            <a:ext cx="41605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Apple SD Gothic Neo"/>
              </a:rPr>
              <a:t>변화량 예측과 점유량 예측을 명확히 구분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2816352"/>
            <a:ext cx="4709160" cy="987552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3063240"/>
            <a:ext cx="41605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Apple SD Gothic Neo"/>
              </a:rPr>
              <a:t>최고 성능 모델과 운영형 모델의 trade-off 반영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4005072"/>
            <a:ext cx="4709160" cy="987552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20840" y="4251960"/>
            <a:ext cx="420624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Apple SD Gothic Neo"/>
              </a:rPr>
              <a:t>가중치 패턴과 변화량 활용식까지 한 슬라이드 흐름으로 정리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Apple SD Gothic Neo"/>
              </a:rPr>
              <a:t>1. 분석 목적과 데이터 범위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49808"/>
            <a:ext cx="10972800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21207" y="822960"/>
            <a:ext cx="10789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ple SD Gothic Neo"/>
              </a:rPr>
              <a:t>변화량 예측 기준으로 슬라이드 메시지를 다시 정의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3383280" cy="52120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F172A"/>
                </a:solidFill>
                <a:latin typeface="Apple SD Gothic Neo"/>
              </a:rPr>
              <a:t>분석 목표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2788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500">
                <a:solidFill>
                  <a:srgbClr val="1F2937"/>
                </a:solidFill>
                <a:latin typeface="Apple SD Gothic Neo"/>
              </a:rPr>
              <a:t>예측 대상은 특정 시각 점유 차량 수가 아니라 직전 대비 변화량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500">
                <a:solidFill>
                  <a:srgbClr val="1F2937"/>
                </a:solidFill>
                <a:latin typeface="Apple SD Gothic Neo"/>
              </a:rPr>
              <a:t>양수는 유입 우세, 음수는 이탈 우세 흐름으로 해석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500">
                <a:solidFill>
                  <a:srgbClr val="1F2937"/>
                </a:solidFill>
                <a:latin typeface="Apple SD Gothic Neo"/>
              </a:rPr>
              <a:t>실제 운영에서는 현재 차량 수에 변화량 예측치를 더해 다음 시간 점유를 추정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1234440"/>
            <a:ext cx="3383280" cy="52120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43400" y="1481328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F172A"/>
                </a:solidFill>
                <a:latin typeface="Apple SD Gothic Neo"/>
              </a:rPr>
              <a:t>데이터 범위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1874519"/>
            <a:ext cx="2788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500">
                <a:solidFill>
                  <a:srgbClr val="1F2937"/>
                </a:solidFill>
                <a:latin typeface="Apple SD Gothic Neo"/>
              </a:rPr>
              <a:t>기간: 2022-01-01 ~ 2025-12-31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500">
                <a:solidFill>
                  <a:srgbClr val="1F2937"/>
                </a:solidFill>
                <a:latin typeface="Apple SD Gothic Neo"/>
              </a:rPr>
              <a:t>총 34,920행, 운영시간 기준 06~23시 중심 예측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500">
                <a:solidFill>
                  <a:srgbClr val="1F2937"/>
                </a:solidFill>
                <a:latin typeface="Apple SD Gothic Neo"/>
              </a:rPr>
              <a:t>train: 2022~2023 / valid: 2024 / test: 2025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1234440"/>
            <a:ext cx="3931920" cy="52120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9560" y="1481328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F172A"/>
                </a:solidFill>
                <a:latin typeface="Apple SD Gothic Neo"/>
              </a:rPr>
              <a:t>활용 방식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1993392"/>
            <a:ext cx="2743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2563EB"/>
                </a:solidFill>
                <a:latin typeface="Apple SD Gothic Neo"/>
              </a:rPr>
              <a:t>next_estimated_active_cars =</a:t>
            </a:r>
            <a:br/>
            <a:r>
              <a:t>current_actual_cars + predicted_change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2926080"/>
            <a:ext cx="30175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500">
                <a:solidFill>
                  <a:srgbClr val="1F2937"/>
                </a:solidFill>
                <a:latin typeface="Apple SD Gothic Neo"/>
              </a:rPr>
              <a:t>변화량 예측이라 TOTAL_CAPACITY만으로 여유면수를 바로 계산하지 않음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500">
                <a:solidFill>
                  <a:srgbClr val="1F2937"/>
                </a:solidFill>
                <a:latin typeface="Apple SD Gothic Neo"/>
              </a:rPr>
              <a:t>현재 점유 상태와 결합해야 다음 시간 점유량이 완성됨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Apple SD Gothic Neo"/>
              </a:rPr>
              <a:t>2. 모델 구조와 품질 점검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49808"/>
            <a:ext cx="10972800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21207" y="822960"/>
            <a:ext cx="10789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ple SD Gothic Neo"/>
              </a:rPr>
              <a:t>패턴을 먼저 만들고 Ridge가 변화량 오차를 보정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2286000" cy="2011680"/>
          </a:xfrm>
          <a:prstGeom prst="roundRect">
            <a:avLst/>
          </a:prstGeom>
          <a:solidFill>
            <a:srgbClr val="DBEAFE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82496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Apple SD Gothic Neo"/>
              </a:rPr>
              <a:t>기본 패턴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139696"/>
            <a:ext cx="187451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1F2937"/>
                </a:solidFill>
                <a:latin typeface="Apple SD Gothic Neo"/>
              </a:rPr>
              <a:t>day_type x hour 평균으로</a:t>
            </a:r>
            <a:br/>
            <a:r>
              <a:t>변화량 base_value 생성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10128" y="1417320"/>
            <a:ext cx="22860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93008" y="1682496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Apple SD Gothic Neo"/>
              </a:rPr>
              <a:t>월 보정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139696"/>
            <a:ext cx="187451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1F2937"/>
                </a:solidFill>
                <a:latin typeface="Apple SD Gothic Neo"/>
              </a:rPr>
              <a:t>month_weight로</a:t>
            </a:r>
            <a:br/>
            <a:r>
              <a:t>계절별 수준 차이 반영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71616" y="1417320"/>
            <a:ext cx="2286000" cy="2011680"/>
          </a:xfrm>
          <a:prstGeom prst="roundRect">
            <a:avLst/>
          </a:prstGeom>
          <a:solidFill>
            <a:srgbClr val="DBEAFE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54496" y="1682496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Apple SD Gothic Neo"/>
              </a:rPr>
              <a:t>시간 보정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36207" y="2139696"/>
            <a:ext cx="187451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1F2937"/>
                </a:solidFill>
                <a:latin typeface="Apple SD Gothic Neo"/>
              </a:rPr>
              <a:t>hour_weight로</a:t>
            </a:r>
            <a:br/>
            <a:r>
              <a:t>운영시간 내 피크 반영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33104" y="1417320"/>
            <a:ext cx="22860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15984" y="1682496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Apple SD Gothic Neo"/>
              </a:rPr>
              <a:t>Ridge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2139696"/>
            <a:ext cx="187451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1F2937"/>
                </a:solidFill>
                <a:latin typeface="Apple SD Gothic Neo"/>
              </a:rPr>
              <a:t>달력, 날씨, 가용성 변수로</a:t>
            </a:r>
            <a:br/>
            <a:r>
              <a:t>남는 변화량 오차 보정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886200"/>
            <a:ext cx="3383280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133087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Apple SD Gothic Neo"/>
              </a:rPr>
              <a:t>타깃 이상값 판단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526280"/>
            <a:ext cx="27432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400">
                <a:solidFill>
                  <a:srgbClr val="1F2937"/>
                </a:solidFill>
                <a:latin typeface="Apple SD Gothic Neo"/>
              </a:rPr>
              <a:t>후보 1,069건은 모두 특이치로 유지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400">
                <a:solidFill>
                  <a:srgbClr val="1F2937"/>
                </a:solidFill>
                <a:latin typeface="Apple SD Gothic Neo"/>
              </a:rPr>
              <a:t>실제 제거된 target outlier는 0건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43400" y="3886200"/>
            <a:ext cx="3566160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133087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Apple SD Gothic Neo"/>
              </a:rPr>
              <a:t>입력 변수 정리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526280"/>
            <a:ext cx="28803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400">
                <a:solidFill>
                  <a:srgbClr val="1F2937"/>
                </a:solidFill>
                <a:latin typeface="Apple SD Gothic Neo"/>
              </a:rPr>
              <a:t>자전거 관련 극단치 12건만 제거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400">
                <a:solidFill>
                  <a:srgbClr val="1F2937"/>
                </a:solidFill>
                <a:latin typeface="Apple SD Gothic Neo"/>
              </a:rPr>
              <a:t>특이 고변화 사례 1,069건은 학습에 유지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83879" y="3886200"/>
            <a:ext cx="3383280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0" y="4133087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Apple SD Gothic Neo"/>
              </a:rPr>
              <a:t>핵심 해석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4526280"/>
            <a:ext cx="2697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400">
                <a:solidFill>
                  <a:srgbClr val="1F2937"/>
                </a:solidFill>
                <a:latin typeface="Apple SD Gothic Neo"/>
              </a:rPr>
              <a:t>변화량은 0 근처가 많고 큰 증감은 드문 구조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400">
                <a:solidFill>
                  <a:srgbClr val="1F2937"/>
                </a:solidFill>
                <a:latin typeface="Apple SD Gothic Neo"/>
              </a:rPr>
              <a:t>그래서 극단 구간보다 일반 구간 안정성이 더 중요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Apple SD Gothic Neo"/>
              </a:rPr>
              <a:t>3. 패턴 가중치와 변화량 해석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49808"/>
            <a:ext cx="10972800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21207" y="822960"/>
            <a:ext cx="10789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ple SD Gothic Neo"/>
              </a:rPr>
              <a:t>어느 월, 어느 시간이 변화량 상승 압력을 만드는지</a:t>
            </a:r>
          </a:p>
        </p:txBody>
      </p:sp>
      <p:pic>
        <p:nvPicPr>
          <p:cNvPr id="5" name="Picture 4" descr="nanji_ml_change_weigh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34440"/>
            <a:ext cx="5486400" cy="204401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00800" y="1325880"/>
            <a:ext cx="4617720" cy="18288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29400" y="1572768"/>
            <a:ext cx="4069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Apple SD Gothic Neo"/>
              </a:rPr>
              <a:t>패턴 요약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1965960"/>
            <a:ext cx="39776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400">
                <a:solidFill>
                  <a:srgbClr val="1F2937"/>
                </a:solidFill>
                <a:latin typeface="Apple SD Gothic Neo"/>
              </a:rPr>
              <a:t>월 가중치 상위: 5, 6, 4월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400">
                <a:solidFill>
                  <a:srgbClr val="1F2937"/>
                </a:solidFill>
                <a:latin typeface="Apple SD Gothic Neo"/>
              </a:rPr>
              <a:t>시간 가중치 상위: 13시, 14시, 12시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400">
                <a:solidFill>
                  <a:srgbClr val="1F2937"/>
                </a:solidFill>
                <a:latin typeface="Apple SD Gothic Neo"/>
              </a:rPr>
              <a:t>봄·초여름과 초가을, 그리고 점심 직후 시간대에 변화량 상승 압력이 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3456432"/>
            <a:ext cx="4617720" cy="2011680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3703320"/>
            <a:ext cx="4069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Apple SD Gothic Neo"/>
              </a:rPr>
              <a:t>발표 멘트용 해석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56832" y="4096512"/>
            <a:ext cx="3977639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1F2937"/>
                </a:solidFill>
                <a:latin typeface="Apple SD Gothic Neo"/>
              </a:rPr>
              <a:t>난지 수요는 단순히 날씨 하나로 움직이지 않고,</a:t>
            </a:r>
            <a:br/>
            <a:r>
              <a:t>월별 시즌성과 시간대 패턴이 먼저 큰 뼈대를 만들고</a:t>
            </a:r>
            <a:br/>
            <a:r>
              <a:t>외부 조건이 그 위에 변화를 더하는 구조입니다.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Apple SD Gothic Neo"/>
              </a:rPr>
              <a:t>4. 모델 비교와 최종 선택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49808"/>
            <a:ext cx="10972800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21207" y="822960"/>
            <a:ext cx="10789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ple SD Gothic Neo"/>
              </a:rPr>
              <a:t>최고 성능 모델과 운영형 단순안은 분리해서 설명해야 함</a:t>
            </a:r>
          </a:p>
        </p:txBody>
      </p:sp>
      <p:pic>
        <p:nvPicPr>
          <p:cNvPr id="5" name="Picture 4" descr="nanji_ml_change_model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25880"/>
            <a:ext cx="4892040" cy="2623268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23560" y="1389888"/>
          <a:ext cx="4572000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914400"/>
                <a:gridCol w="914400"/>
                <a:gridCol w="914400"/>
                <a:gridCol w="914400"/>
              </a:tblGrid>
              <a:tr h="43434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F172A"/>
                          </a:solidFill>
                          <a:latin typeface="Apple SD Gothic Neo"/>
                        </a:rPr>
                        <a:t>모델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F172A"/>
                          </a:solidFill>
                          <a:latin typeface="Apple SD Gothic Neo"/>
                        </a:rPr>
                        <a:t>alpha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F172A"/>
                          </a:solidFill>
                          <a:latin typeface="Apple SD Gothic Neo"/>
                        </a:rPr>
                        <a:t>RMSE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F172A"/>
                          </a:solidFill>
                          <a:latin typeface="Apple SD Gothic Neo"/>
                        </a:rPr>
                        <a:t>MAE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F172A"/>
                          </a:solidFill>
                          <a:latin typeface="Apple SD Gothic Neo"/>
                        </a:rPr>
                        <a:t>R²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919" b="1">
                          <a:solidFill>
                            <a:srgbClr val="1F2937"/>
                          </a:solidFill>
                          <a:latin typeface="Apple SD Gothic Neo"/>
                        </a:rPr>
                        <a:t>weighted_extended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1">
                          <a:solidFill>
                            <a:srgbClr val="1F2937"/>
                          </a:solidFill>
                          <a:latin typeface="Apple SD Gothic Neo"/>
                        </a:rPr>
                        <a:t>100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1">
                          <a:solidFill>
                            <a:srgbClr val="1F2937"/>
                          </a:solidFill>
                          <a:latin typeface="Apple SD Gothic Neo"/>
                        </a:rPr>
                        <a:t>15.24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1">
                          <a:solidFill>
                            <a:srgbClr val="1F2937"/>
                          </a:solidFill>
                          <a:latin typeface="Apple SD Gothic Neo"/>
                        </a:rPr>
                        <a:t>8.73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1">
                          <a:solidFill>
                            <a:srgbClr val="1F2937"/>
                          </a:solidFill>
                          <a:latin typeface="Apple SD Gothic Neo"/>
                        </a:rPr>
                        <a:t>0.677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919" b="0">
                          <a:solidFill>
                            <a:srgbClr val="1F2937"/>
                          </a:solidFill>
                          <a:latin typeface="Apple SD Gothic Neo"/>
                        </a:rPr>
                        <a:t>weather_only_extended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0">
                          <a:solidFill>
                            <a:srgbClr val="1F2937"/>
                          </a:solidFill>
                          <a:latin typeface="Apple SD Gothic Neo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0">
                          <a:solidFill>
                            <a:srgbClr val="1F2937"/>
                          </a:solidFill>
                          <a:latin typeface="Apple SD Gothic Neo"/>
                        </a:rPr>
                        <a:t>15.27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0">
                          <a:solidFill>
                            <a:srgbClr val="1F2937"/>
                          </a:solidFill>
                          <a:latin typeface="Apple SD Gothic Neo"/>
                        </a:rPr>
                        <a:t>8.51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0">
                          <a:solidFill>
                            <a:srgbClr val="1F2937"/>
                          </a:solidFill>
                          <a:latin typeface="Apple SD Gothic Neo"/>
                        </a:rPr>
                        <a:t>0.676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919" b="0">
                          <a:solidFill>
                            <a:srgbClr val="1F2937"/>
                          </a:solidFill>
                          <a:latin typeface="Apple SD Gothic Neo"/>
                        </a:rPr>
                        <a:t>weather_only_simple_forecast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0">
                          <a:solidFill>
                            <a:srgbClr val="1F2937"/>
                          </a:solidFill>
                          <a:latin typeface="Apple SD Gothic Neo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0">
                          <a:solidFill>
                            <a:srgbClr val="1F2937"/>
                          </a:solidFill>
                          <a:latin typeface="Apple SD Gothic Neo"/>
                        </a:rPr>
                        <a:t>16.41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0">
                          <a:solidFill>
                            <a:srgbClr val="1F2937"/>
                          </a:solidFill>
                          <a:latin typeface="Apple SD Gothic Neo"/>
                        </a:rPr>
                        <a:t>9.23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0">
                          <a:solidFill>
                            <a:srgbClr val="1F2937"/>
                          </a:solidFill>
                          <a:latin typeface="Apple SD Gothic Neo"/>
                        </a:rPr>
                        <a:t>0.625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919" b="0">
                          <a:solidFill>
                            <a:srgbClr val="1F2937"/>
                          </a:solidFill>
                          <a:latin typeface="Apple SD Gothic Neo"/>
                        </a:rPr>
                        <a:t>weather_only_extended_final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0">
                          <a:solidFill>
                            <a:srgbClr val="1F2937"/>
                          </a:solidFill>
                          <a:latin typeface="Apple SD Gothic Neo"/>
                        </a:rPr>
                        <a:t>100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0">
                          <a:solidFill>
                            <a:srgbClr val="1F2937"/>
                          </a:solidFill>
                          <a:latin typeface="Apple SD Gothic Neo"/>
                        </a:rPr>
                        <a:t>16.45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0">
                          <a:solidFill>
                            <a:srgbClr val="1F2937"/>
                          </a:solidFill>
                          <a:latin typeface="Apple SD Gothic Neo"/>
                        </a:rPr>
                        <a:t>9.21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0">
                          <a:solidFill>
                            <a:srgbClr val="1F2937"/>
                          </a:solidFill>
                          <a:latin typeface="Apple SD Gothic Neo"/>
                        </a:rPr>
                        <a:t>0.623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919" b="0">
                          <a:solidFill>
                            <a:srgbClr val="1F2937"/>
                          </a:solidFill>
                          <a:latin typeface="Apple SD Gothic Neo"/>
                        </a:rPr>
                        <a:t>weighted_core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0">
                          <a:solidFill>
                            <a:srgbClr val="1F2937"/>
                          </a:solidFill>
                          <a:latin typeface="Apple SD Gothic Neo"/>
                        </a:rPr>
                        <a:t>0.001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0">
                          <a:solidFill>
                            <a:srgbClr val="1F2937"/>
                          </a:solidFill>
                          <a:latin typeface="Apple SD Gothic Neo"/>
                        </a:rPr>
                        <a:t>16.82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0">
                          <a:solidFill>
                            <a:srgbClr val="1F2937"/>
                          </a:solidFill>
                          <a:latin typeface="Apple SD Gothic Neo"/>
                        </a:rPr>
                        <a:t>9.54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0">
                          <a:solidFill>
                            <a:srgbClr val="1F2937"/>
                          </a:solidFill>
                          <a:latin typeface="Apple SD Gothic Neo"/>
                        </a:rPr>
                        <a:t>0.606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623560" y="4251960"/>
            <a:ext cx="4572000" cy="1554480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33872" y="4498848"/>
            <a:ext cx="40690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400">
                <a:solidFill>
                  <a:srgbClr val="1F2937"/>
                </a:solidFill>
                <a:latin typeface="Apple SD Gothic Neo"/>
              </a:rPr>
              <a:t>최고 성능: weighted_extended / R² 0.677, RMSE 15.24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400">
                <a:solidFill>
                  <a:srgbClr val="1F2937"/>
                </a:solidFill>
                <a:latin typeface="Apple SD Gothic Neo"/>
              </a:rPr>
              <a:t>운영형 단순안: weather_only_extended_final / R² 0.623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400">
                <a:solidFill>
                  <a:srgbClr val="1F2937"/>
                </a:solidFill>
                <a:latin typeface="Apple SD Gothic Neo"/>
              </a:rPr>
              <a:t>성능 차이: R² 0.054p, RMSE 1.21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Apple SD Gothic Neo"/>
              </a:rPr>
              <a:t>5. 운영형 feature와 중요 변수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49808"/>
            <a:ext cx="10972800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21207" y="822960"/>
            <a:ext cx="10789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ple SD Gothic Neo"/>
              </a:rPr>
              <a:t>실제 운영에는 10개 feature 단순안이 더 설명하기 쉬움</a:t>
            </a:r>
          </a:p>
        </p:txBody>
      </p:sp>
      <p:pic>
        <p:nvPicPr>
          <p:cNvPr id="5" name="Picture 4" descr="nanji_ml_change_feature_grou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4297680" cy="2740423"/>
          </a:xfrm>
          <a:prstGeom prst="rect">
            <a:avLst/>
          </a:prstGeom>
        </p:spPr>
      </p:pic>
      <p:pic>
        <p:nvPicPr>
          <p:cNvPr id="6" name="Picture 5" descr="nanji_ml_change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371600"/>
            <a:ext cx="4983480" cy="307314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7240" y="5212080"/>
            <a:ext cx="9144000" cy="82296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5440680"/>
            <a:ext cx="8778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1F2937"/>
                </a:solidFill>
                <a:latin typeface="Apple SD Gothic Neo"/>
              </a:rPr>
              <a:t>운영형 최종안 feature: pattern_prior, month_weight, hour_weight, day_type_offday, hour_sin, hour_cos, month_sin, month_cos, is_holiday, wind_gusts_10m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5897880"/>
            <a:ext cx="4572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Apple SD Gothic Neo"/>
              </a:rPr>
              <a:t>최고 성능 모델 핵심 변수: month_weight, snowfall, hour_sin, day_type_offday, snow_depth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Apple SD Gothic Neo"/>
              </a:rPr>
              <a:t>6. 테스트 해석과 적용 방식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49808"/>
            <a:ext cx="10972800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21207" y="822960"/>
            <a:ext cx="10789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ple SD Gothic Neo"/>
              </a:rPr>
              <a:t>월별 추세는 설명 가능하지만 큰 증감 구간은 보수적으로 봐야 함</a:t>
            </a:r>
          </a:p>
        </p:txBody>
      </p:sp>
      <p:pic>
        <p:nvPicPr>
          <p:cNvPr id="5" name="Picture 4" descr="nanji_ml_change_monthly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61872"/>
            <a:ext cx="4983480" cy="252293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715000" y="1261872"/>
            <a:ext cx="4434840" cy="192024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0" y="1508760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Apple SD Gothic Neo"/>
              </a:rPr>
              <a:t>테스트셋 해석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874519"/>
            <a:ext cx="3794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400">
                <a:solidFill>
                  <a:srgbClr val="1F2937"/>
                </a:solidFill>
                <a:latin typeface="Apple SD Gothic Neo"/>
              </a:rPr>
              <a:t>weighted_extended가 weather_only_extended 대비도 근소 우위(R² 0.677 vs 0.676)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400">
                <a:solidFill>
                  <a:srgbClr val="1F2937"/>
                </a:solidFill>
                <a:latin typeface="Apple SD Gothic Neo"/>
              </a:rPr>
              <a:t>9월 변화량 오차가 가장 크고, 20~22시와 16시 구간이 상대적으로 어려움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15000" y="3456432"/>
            <a:ext cx="4434840" cy="2148840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0" y="3703320"/>
            <a:ext cx="3794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Apple SD Gothic Neo"/>
              </a:rPr>
              <a:t>운영 적용 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25312" y="4096512"/>
            <a:ext cx="3794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E7490"/>
                </a:solidFill>
                <a:latin typeface="Apple SD Gothic Neo"/>
              </a:rPr>
              <a:t>next_estimated_active_cars = current_actual_cars + predicted_change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4617720"/>
            <a:ext cx="37490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400">
                <a:solidFill>
                  <a:srgbClr val="1F2937"/>
                </a:solidFill>
                <a:latin typeface="Apple SD Gothic Neo"/>
              </a:rPr>
              <a:t>급격한 유입/이탈(절대값 50 이상) 구간은 오차가 커 현장 모니터링 병행 권장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400">
                <a:solidFill>
                  <a:srgbClr val="1F2937"/>
                </a:solidFill>
                <a:latin typeface="Apple SD Gothic Neo"/>
              </a:rPr>
              <a:t>평시 운영 안내와 다음 시간대 흐름 판단에는 충분히 활용 가능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