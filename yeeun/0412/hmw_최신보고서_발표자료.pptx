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731520"/>
            <a:ext cx="5029200" cy="521208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61722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0"/>
            <a:ext cx="4389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HMW 최신 보고서</a:t>
            </a:r>
            <a:br/>
            <a:r>
              <a:t>발표자료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Malgun Gothic"/>
              </a:rPr>
              <a:t>난지 한강공원 시간대별 주차 수요 예측 모델을</a:t>
            </a:r>
            <a:br/>
            <a:r>
              <a:t>발표용 흐름으로 다시 정리한 버전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기준 문서: nanji_weighted_ridge_modeling_report.md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핵심 주제: 운영 가능한 주차 수요 예측 모델 선정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최종 운영형 성능: R² 0.766, RMSE 55.07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91440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발표 핵심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691640"/>
            <a:ext cx="46634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874519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lgun Gothic"/>
              </a:rPr>
              <a:t>직접 로그가 아닌 추정형 시간별 데이터셋 기반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834640"/>
            <a:ext cx="46634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30175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lgun Gothic"/>
              </a:rPr>
              <a:t>패턴 + 가중치 + Ridge 구조로 해석력 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977639"/>
            <a:ext cx="46634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416052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lgun Gothic"/>
              </a:rPr>
              <a:t>운영용 최종안은 13개 feature의 날씨 기반 모델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1. 분석 목적과 데이터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097280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2296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</a:rPr>
              <a:t>무엇을 예측했고 어떤 데이터로 학습했는지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29184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Malgun Gothic"/>
              </a:rPr>
              <a:t>분석 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697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예측 대상은 특정 시각의 추정 주차 차량 수인 estimated_active_cars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최종적으로는 여유 주차공간 수로 바꿔 운영에 활용하는 것이 목적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해석 가능성과 실제 운영 연결성을 함께 고려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234440"/>
            <a:ext cx="347472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4813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Malgun Gothic"/>
              </a:rPr>
              <a:t>데이터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74519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기간: 2022-01-01 ~ 2025-12-31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총 34,920행, 중복 0, 타깃 결측 0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직접 실측 시간 로그가 아니라 일별 원본을 24시간으로 확장한 추정형 데이터셋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234440"/>
            <a:ext cx="384048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4813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Malgun Gothic"/>
              </a:rPr>
              <a:t>운영 조건과 분할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874519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운영시간은 06~23시로 간주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00~05시는 운영 외 구간으로 보고 0 유지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train: 2022~2023 / valid: 2024 / test: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2. 전처리와 모델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097280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2296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</a:rPr>
              <a:t>패턴을 먼저 설명하고 남는 차이를 Ridge가 보정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240280" cy="1874519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6420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1. 기본 패턴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783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Malgun Gothic"/>
              </a:rPr>
              <a:t>day_type x hour 평균으로</a:t>
            </a:r>
            <a:br/>
            <a:r>
              <a:t>base_value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371600"/>
            <a:ext cx="224028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8" y="166420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2. 월 보정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57400"/>
            <a:ext cx="1783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Malgun Gothic"/>
              </a:rPr>
              <a:t>month_weight로</a:t>
            </a:r>
            <a:br/>
            <a:r>
              <a:t>계절별 수준 차이 반영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1371600"/>
            <a:ext cx="2240280" cy="1874519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9008" y="166420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3. 시간 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057400"/>
            <a:ext cx="1783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Malgun Gothic"/>
              </a:rPr>
              <a:t>hour_weight로</a:t>
            </a:r>
            <a:br/>
            <a:r>
              <a:t>운영시간대 혼잡 차이 반영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71600"/>
            <a:ext cx="224028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6420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4. Ridge 보정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57400"/>
            <a:ext cx="1783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Malgun Gothic"/>
              </a:rPr>
              <a:t>날씨·주기 변수와 함께</a:t>
            </a:r>
            <a:br/>
            <a:r>
              <a:t>최종 오차 축소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94760"/>
            <a:ext cx="384048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416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전처리 핵심 결과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07408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Malgun Gothic"/>
              </a:rPr>
              <a:t>타깃 상한 초과 후보 1,733건은 모두 특이값으로 유지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Malgun Gothic"/>
              </a:rPr>
              <a:t>입력 변수 쪽 실제 제거 행은 총 12건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Malgun Gothic"/>
              </a:rPr>
              <a:t>상관계수 0.9 이상 기준으로 15개 중복 관계 정리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3794760"/>
            <a:ext cx="681228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4041648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해석 포인트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4407408"/>
            <a:ext cx="6126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Malgun Gothic"/>
              </a:rPr>
              <a:t>작은 값과 중간 값이 많고 큰 값은 드문 long-tail 분포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Malgun Gothic"/>
              </a:rPr>
              <a:t>그래서 전체를 한 번에 맞추는 것보다 패턴을 먼저 설명하는 구조가 더 안정적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Malgun Gothic"/>
              </a:rPr>
              <a:t>sin/cos 변수로 시간과 계절의 주기성을 추가 반영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3. 성능 비교와 최종 운영형 모델 선정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097280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2296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</a:rPr>
              <a:t>좋은 성능과 미래 입력 확보 가능성을 함께 고려</a:t>
            </a:r>
          </a:p>
        </p:txBody>
      </p:sp>
      <p:pic>
        <p:nvPicPr>
          <p:cNvPr id="5" name="Picture 4" descr="hmw_mode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303520" cy="276380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1325880"/>
            <a:ext cx="534924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8" y="157276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핵심 비교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938528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Malgun Gothic"/>
              </a:rPr>
              <a:t>weighted_core: R² 0.725, RMSE 59.61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Malgun Gothic"/>
              </a:rPr>
              <a:t>weighted_extended: R² 0.753, RMSE 56.56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Malgun Gothic"/>
              </a:rPr>
              <a:t>weather_only_extended_final: R² 0.766, RMSE 55.07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49039"/>
            <a:ext cx="534924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400507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최종 선정 이유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4370832"/>
            <a:ext cx="4709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Malgun Gothic"/>
              </a:rPr>
              <a:t>교통·자전거·행사 변수는 미래 시점 실사용이 어려움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Malgun Gothic"/>
              </a:rPr>
              <a:t>날씨는 예보 데이터를 붙일 수 있어 운영 연결성이 높음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Malgun Gothic"/>
              </a:rPr>
              <a:t>성능도 가장 좋고 입력 구조도 단순해 최종 운영안으로 적합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4. 최종 운영형 feature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097280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2296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</a:rPr>
              <a:t>13개 feature로 단순화해 운영 가능성 확보</a:t>
            </a:r>
          </a:p>
        </p:txBody>
      </p:sp>
      <p:pic>
        <p:nvPicPr>
          <p:cNvPr id="5" name="Picture 4" descr="hmw_feature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4480560" cy="25940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77840" y="1371600"/>
            <a:ext cx="548640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62763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최종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993392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algun Gothic"/>
              </a:rPr>
              <a:t>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9339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algun Gothic"/>
              </a:rPr>
              <a:t>pattern_prior, month_weight, hour_weight, day_type_offday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615184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algun Gothic"/>
              </a:rPr>
              <a:t>주기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15184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algun Gothic"/>
              </a:rPr>
              <a:t>hour_sin, hour_cos, month_sin, month_cos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236976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algun Gothic"/>
              </a:rPr>
              <a:t>달력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36976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algun Gothic"/>
              </a:rPr>
              <a:t>is_holiday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85876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algun Gothic"/>
              </a:rPr>
              <a:t>날씨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858768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algun Gothic"/>
              </a:rPr>
              <a:t>temperature_2m, relative_humidity_2m, weather_code, wind_gusts_10m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69280"/>
            <a:ext cx="1033272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70448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Malgun Gothic"/>
              </a:rPr>
              <a:t>정리하면 패턴 뼈대는 유지하고, 미래 시점에서 바로 확보 가능한 날씨 변수만 남긴 운영형 Ridge 모델입니다.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5. 계절·시간 패턴 시각화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097280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2296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</a:rPr>
              <a:t>모델의 큰 뼈대는 month_weight와 hour_weight가 설명</a:t>
            </a:r>
          </a:p>
        </p:txBody>
      </p:sp>
      <p:pic>
        <p:nvPicPr>
          <p:cNvPr id="5" name="Picture 4" descr="nanji_month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349240" cy="2407158"/>
          </a:xfrm>
          <a:prstGeom prst="rect">
            <a:avLst/>
          </a:prstGeom>
        </p:spPr>
      </p:pic>
      <p:pic>
        <p:nvPicPr>
          <p:cNvPr id="6" name="Picture 5" descr="nanji_hour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349240" cy="240715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5486400"/>
            <a:ext cx="1005840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650992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Malgun Gothic"/>
              </a:rPr>
              <a:t>월별 수요 수준 차이와 운영시간대 혼잡 차이가 최종 예측의 핵심 축이며, 이후 날씨가 추가 설명력을 더하는 구조입니다.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6. 모델 한계와 운영 해석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097280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2296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</a:rPr>
              <a:t>일반 구간에서는 실용적이지만 고혼잡 구간은 보수적으로 봐야 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457200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7276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모델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3840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실제값 500 이상 고혼잡 구간에서는 과소예측 경향이 나타남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오차가 큰 시간대는 주로 12~19시, 특히 13~16시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주말·휴일 성격이 강한 날과 4~6월, 9~10월이 상대적으로 어려운 구간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325880"/>
            <a:ext cx="548640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42432" y="157276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운영 적용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2432" y="1938528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1시간 후, 2시간 후, 하루 뒤 같은 단기 예측에는 활용 가능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예측된 estimated_active_cars를 총 주차면 수와 비교해 여유 주차공간 수로 변환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피크 시간대는 과소예측 가능성을 함께 안내하는 방식이 적절</a:t>
            </a:r>
          </a:p>
        </p:txBody>
      </p:sp>
      <p:pic>
        <p:nvPicPr>
          <p:cNvPr id="11" name="Picture 10" descr="nanji_2025_monthly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77639"/>
            <a:ext cx="3108960" cy="1399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7. 결론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097280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2296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</a:rPr>
              <a:t>발표 마무리용 한 장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515600" cy="448056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9875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800">
                <a:solidFill>
                  <a:srgbClr val="1F2937"/>
                </a:solidFill>
                <a:latin typeface="Malgun Gothic"/>
              </a:rPr>
              <a:t>난지 주차 수요 예측은 직접 로그가 아닌 추정형 시간별 데이터셋 기반으로 수행했다.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800">
                <a:solidFill>
                  <a:srgbClr val="1F2937"/>
                </a:solidFill>
                <a:latin typeface="Malgun Gothic"/>
              </a:rPr>
              <a:t>모델 구조는 기본 패턴 + month/hour 가중치 + Ridge 회귀로 해석력을 확보했다.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800">
                <a:solidFill>
                  <a:srgbClr val="1F2937"/>
                </a:solidFill>
                <a:latin typeface="Malgun Gothic"/>
              </a:rPr>
              <a:t>최종 운영안은 13개 feature를 쓰는 weather_only_extended_final 모델이다.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800">
                <a:solidFill>
                  <a:srgbClr val="1F2937"/>
                </a:solidFill>
                <a:latin typeface="Malgun Gothic"/>
              </a:rPr>
              <a:t>최종 test 성능은 R² 0.766, RMSE 55.07, MAE 27.93다.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800">
                <a:solidFill>
                  <a:srgbClr val="1F2937"/>
                </a:solidFill>
                <a:latin typeface="Malgun Gothic"/>
              </a:rPr>
              <a:t>일반 운영 구간에서는 실용적이지만, 500 이상 고혼잡 구간은 보수적으로 해석해야 한다.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800">
                <a:solidFill>
                  <a:srgbClr val="1F2937"/>
                </a:solidFill>
                <a:latin typeface="Malgun Gothic"/>
              </a:rPr>
              <a:t>실무에서는 예측 점유량을 총 주차면 수와 비교해 여유 주차공간 수로 바꿔 사용하는 방식이 적절하다.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26480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</a:rPr>
              <a:t>생성 파일: yeeun/0412/hmw_최신보고서_발표자료.pptx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